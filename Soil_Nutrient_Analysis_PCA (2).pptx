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B2B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2B2B2B"/>
                </a:solidFill>
                <a:latin typeface="Arial"/>
              </a:rPr>
              <a:t>Scree: variance explained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Explained variance (%)</c:v>
                </c:pt>
              </c:strCache>
            </c:strRef>
          </c:tx>
          <c:spPr>
            <a:solidFill>
              <a:srgbClr val="4F772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  <c:pt idx="5">
                  <c:v>PC6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23</c:v>
                </c:pt>
                <c:pt idx="2">
                  <c:v>12</c:v>
                </c:pt>
                <c:pt idx="3">
                  <c:v>8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57-4AD7-8A4F-29BE7F6B1E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D2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85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73152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Soil Nutrient Analysis using Principal Component Analysis (PCA)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DE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multi-nutrient soil data into interpretable patterns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9312" y="283464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[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kaveri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_2520090068.], [Navya _252009007.],[Sahasra_2520090067]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/ Supervisor: [I V S L Haritha]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[CSIT]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[University]:[KLH]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[2025– 2029]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fertility drives crop yield and food security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report many nutrients per sample: N, P, K, pH, OC, EC, micronutrients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63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Overview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63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and soil informatics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is an unsupervised technique that compresses correlated variables into a few components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57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Needed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057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variables are highly correlated and hard to interpret together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simple, data-driven view of soil variability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Problem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test reports contain 10+ correlated parameters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see overall fertility patterns by eye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63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/ Challenges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63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Nutrient-by-nutrient analysis ignores interactions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Redundant, high-dimensional 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interpretation is slow and subjective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57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Is Affected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057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and agronomists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testing labs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researchers and policy planners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Project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core machine-learning technique to a real agricultural dataset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soil data easier to interpret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63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Need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63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over-use raises cost and harms the environment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need quick, clear soil-health insights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57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/ Industry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057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is widely used in soil science and chemometrics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demand for data-driven precision farming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PCA to reduce and interpret soil nutrient data, identifying the key factors that explain soil variability.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preprocess soil nutrient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variables and compute the correlation structure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PCA and select components via explained variance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loadings to find dominant nutrient groups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samples with score plots and biplots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Approach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testing of individual nutrients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against fixed threshold ratings (low / medium / high)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63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63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basic statistics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test kits and lab reports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charts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57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057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view of relationships between nutrients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variables to track at once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hidden patterns across samples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005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40005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3781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37810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PCA pipeline for soil nutrient data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Standardize, decompose, and visualize in one workflow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components, loadings, and plots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86300" y="1234440"/>
            <a:ext cx="40005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34440"/>
            <a:ext cx="40005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96028" y="1234440"/>
            <a:ext cx="3781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Addresses Limitations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96028" y="1783080"/>
            <a:ext cx="37810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many variables to a few components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correlations through loadings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objective, repeatable interpretation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visual summary of all samples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/ Block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288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77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sample data (CSV)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P, K, pH, OC, EC, micronutrients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22576" y="2606040"/>
            <a:ext cx="228600" cy="320040"/>
          </a:xfrm>
          <a:prstGeom prst="rightArrow">
            <a:avLst/>
          </a:prstGeom>
          <a:solidFill>
            <a:srgbClr val="A47148"/>
          </a:solidFill>
          <a:ln/>
        </p:spPr>
      </p:sp>
      <p:sp>
        <p:nvSpPr>
          <p:cNvPr id="10" name="Shape 8"/>
          <p:cNvSpPr/>
          <p:nvPr/>
        </p:nvSpPr>
        <p:spPr>
          <a:xfrm>
            <a:off x="2587752" y="1463040"/>
            <a:ext cx="18288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7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7752" y="1463040"/>
            <a:ext cx="1828800" cy="50292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87752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210312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imputation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check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(z-score)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53128" y="2606040"/>
            <a:ext cx="228600" cy="320040"/>
          </a:xfrm>
          <a:prstGeom prst="rightArrow">
            <a:avLst/>
          </a:prstGeom>
          <a:solidFill>
            <a:srgbClr val="A47148"/>
          </a:solidFill>
          <a:ln/>
        </p:spPr>
      </p:sp>
      <p:sp>
        <p:nvSpPr>
          <p:cNvPr id="15" name="Shape 13"/>
          <p:cNvSpPr/>
          <p:nvPr/>
        </p:nvSpPr>
        <p:spPr>
          <a:xfrm>
            <a:off x="4718304" y="1463040"/>
            <a:ext cx="18288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77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463040"/>
            <a:ext cx="1828800" cy="50292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18304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/ Model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09744" y="210312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decomposition (PCA)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selection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2606040"/>
            <a:ext cx="228600" cy="320040"/>
          </a:xfrm>
          <a:prstGeom prst="rightArrow">
            <a:avLst/>
          </a:prstGeom>
          <a:solidFill>
            <a:srgbClr val="A47148"/>
          </a:solidFill>
          <a:ln/>
        </p:spPr>
      </p:sp>
      <p:sp>
        <p:nvSpPr>
          <p:cNvPr id="20" name="Shape 18"/>
          <p:cNvSpPr/>
          <p:nvPr/>
        </p:nvSpPr>
        <p:spPr>
          <a:xfrm>
            <a:off x="6848856" y="1463040"/>
            <a:ext cx="18288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4F77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48856" y="1463040"/>
            <a:ext cx="1828800" cy="50292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48856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0296" y="2103120"/>
            <a:ext cx="1645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 and scores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and biplot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/ Workflow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4F77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rgbClr val="A4714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0195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soil data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322576" y="1828800"/>
            <a:ext cx="228600" cy="274320"/>
          </a:xfrm>
          <a:prstGeom prst="rightArrow">
            <a:avLst/>
          </a:prstGeom>
          <a:solidFill>
            <a:srgbClr val="4F772D"/>
          </a:solidFill>
          <a:ln/>
        </p:spPr>
      </p:sp>
      <p:sp>
        <p:nvSpPr>
          <p:cNvPr id="10" name="Shape 8"/>
          <p:cNvSpPr/>
          <p:nvPr/>
        </p:nvSpPr>
        <p:spPr>
          <a:xfrm>
            <a:off x="2587752" y="137160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4F77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9192" y="1463040"/>
            <a:ext cx="384048" cy="384048"/>
          </a:xfrm>
          <a:prstGeom prst="ellipse">
            <a:avLst/>
          </a:prstGeom>
          <a:solidFill>
            <a:srgbClr val="A4714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79192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190195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handle missing values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53128" y="1828800"/>
            <a:ext cx="228600" cy="274320"/>
          </a:xfrm>
          <a:prstGeom prst="rightArrow">
            <a:avLst/>
          </a:prstGeom>
          <a:solidFill>
            <a:srgbClr val="4F772D"/>
          </a:solidFill>
          <a:ln/>
        </p:spPr>
      </p:sp>
      <p:sp>
        <p:nvSpPr>
          <p:cNvPr id="15" name="Shape 13"/>
          <p:cNvSpPr/>
          <p:nvPr/>
        </p:nvSpPr>
        <p:spPr>
          <a:xfrm>
            <a:off x="4718304" y="137160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4F77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9744" y="1463040"/>
            <a:ext cx="384048" cy="384048"/>
          </a:xfrm>
          <a:prstGeom prst="ellipse">
            <a:avLst/>
          </a:prstGeom>
          <a:solidFill>
            <a:srgbClr val="A471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9744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09744" y="190195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features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0" y="1828800"/>
            <a:ext cx="228600" cy="274320"/>
          </a:xfrm>
          <a:prstGeom prst="rightArrow">
            <a:avLst/>
          </a:prstGeom>
          <a:solidFill>
            <a:srgbClr val="4F772D"/>
          </a:solidFill>
          <a:ln/>
        </p:spPr>
      </p:sp>
      <p:sp>
        <p:nvSpPr>
          <p:cNvPr id="20" name="Shape 18"/>
          <p:cNvSpPr/>
          <p:nvPr/>
        </p:nvSpPr>
        <p:spPr>
          <a:xfrm>
            <a:off x="6848856" y="137160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4F77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0296" y="1463040"/>
            <a:ext cx="384048" cy="384048"/>
          </a:xfrm>
          <a:prstGeom prst="ellipse">
            <a:avLst/>
          </a:prstGeom>
          <a:solidFill>
            <a:srgbClr val="A4714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40296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40296" y="190195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covariance matrix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4F77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200400"/>
            <a:ext cx="384048" cy="384048"/>
          </a:xfrm>
          <a:prstGeom prst="ellipse">
            <a:avLst/>
          </a:prstGeom>
          <a:solidFill>
            <a:srgbClr val="A4714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639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and eigenvectors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322576" y="3566160"/>
            <a:ext cx="228600" cy="274320"/>
          </a:xfrm>
          <a:prstGeom prst="rightArrow">
            <a:avLst/>
          </a:prstGeom>
          <a:solidFill>
            <a:srgbClr val="4F772D"/>
          </a:solidFill>
          <a:ln/>
        </p:spPr>
      </p:sp>
      <p:sp>
        <p:nvSpPr>
          <p:cNvPr id="29" name="Shape 27"/>
          <p:cNvSpPr/>
          <p:nvPr/>
        </p:nvSpPr>
        <p:spPr>
          <a:xfrm>
            <a:off x="2587752" y="310896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4F77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9192" y="3200400"/>
            <a:ext cx="384048" cy="384048"/>
          </a:xfrm>
          <a:prstGeom prst="ellipse">
            <a:avLst/>
          </a:prstGeom>
          <a:solidFill>
            <a:srgbClr val="A4714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679192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679192" y="3639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components (scree, ≥80% variance)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453128" y="3566160"/>
            <a:ext cx="228600" cy="274320"/>
          </a:xfrm>
          <a:prstGeom prst="rightArrow">
            <a:avLst/>
          </a:prstGeom>
          <a:solidFill>
            <a:srgbClr val="4F772D"/>
          </a:solidFill>
          <a:ln/>
        </p:spPr>
      </p:sp>
      <p:sp>
        <p:nvSpPr>
          <p:cNvPr id="34" name="Shape 32"/>
          <p:cNvSpPr/>
          <p:nvPr/>
        </p:nvSpPr>
        <p:spPr>
          <a:xfrm>
            <a:off x="4718304" y="310896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4F77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9744" y="3200400"/>
            <a:ext cx="384048" cy="384048"/>
          </a:xfrm>
          <a:prstGeom prst="ellipse">
            <a:avLst/>
          </a:prstGeom>
          <a:solidFill>
            <a:srgbClr val="A4714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09744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09744" y="3639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 and interpret loadings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83680" y="3566160"/>
            <a:ext cx="228600" cy="274320"/>
          </a:xfrm>
          <a:prstGeom prst="rightArrow">
            <a:avLst/>
          </a:prstGeom>
          <a:solidFill>
            <a:srgbClr val="4F772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48856" y="310896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solidFill>
              <a:srgbClr val="4F77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0296" y="3200400"/>
            <a:ext cx="384048" cy="384048"/>
          </a:xfrm>
          <a:prstGeom prst="ellipse">
            <a:avLst/>
          </a:prstGeom>
          <a:solidFill>
            <a:srgbClr val="A4714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940296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940296" y="3639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and report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 → Row 2: after step 4, the flow continues from the left of the next row.</a:t>
            </a:r>
            <a:endParaRPr lang="en-US" sz="10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&amp; Tools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/ Google Colab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63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63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(PCA, StandardScaler)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57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Hardware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057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 dataset files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SQLite for storage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laptop; no GPU needed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Modules / Components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load soil test records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Preprocessing: clean, impute, scale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63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Processing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63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Module: fit and transform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selection: explained variance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57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Layer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057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scree plot, biplot, heatmap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loadings table and insights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dataset with Pandas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values; scale with StandardScaler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PCA from scikit-learn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explained_variance_ratio_ and choose 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scores and loadings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0" y="1188720"/>
            <a:ext cx="4663440" cy="338328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160520" y="132588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4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sklearn.decomposition import PCA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StandardScaler().fit_transform(df[features])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= PCA(n_components=0.80)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pca.fit_transform(X)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print(pca.explained_variance_ratio_)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D4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loadings = pca.components_.T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/ Input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[Dataset name / source]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[N] soil samples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[location]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63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63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Macronutrients: N, P, K, 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Chemistry: pH, EC, organic carbon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Micronutrients: Zn, Fe, Cu, Mn, 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57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057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fix outliers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values (median)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standardization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/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(unsupervised)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decomposition of the correlation matrix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63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PCA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63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nutrients are correlated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dimensions while keeping most variance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uncorrelated and interpretable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57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Parameters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057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n_components: variance ≥ 80%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Scaling: StandardScaler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scree plot and Kaiser (λ &gt; 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97280"/>
          <a:ext cx="47548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1188720"/>
            <a:ext cx="3337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0" y="1280160"/>
            <a:ext cx="3063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PC1–PC3 explain about 77% of variance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PC1: macronutrient fertility (N, P, K, OC)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PC2: acidity / salinity (pH, EC)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PC3: micronutrients (Zn, Fe, Mn)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is unsupervised, so accuracy, precision, recall and F1 do not apply; variance explained is the metric.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72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471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values – replace with your dataset results.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Comparison with Existing Methods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0175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(univariate)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(PCA)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Analysed one at a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Analysed jointly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Redundancy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handled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via components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in score plots / biplots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subjective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Loadings-based, objective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 parameters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components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Screenshots / Demo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1417320"/>
          </a:xfrm>
          <a:prstGeom prst="rect">
            <a:avLst/>
          </a:prstGeom>
          <a:solidFill>
            <a:srgbClr val="E8E4D6"/>
          </a:solidFill>
          <a:ln w="12700">
            <a:solidFill>
              <a:srgbClr val="A9A593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78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1417320"/>
          </a:xfrm>
          <a:prstGeom prst="rect">
            <a:avLst/>
          </a:prstGeom>
          <a:solidFill>
            <a:srgbClr val="E8E4D6"/>
          </a:solidFill>
          <a:ln w="12700">
            <a:solidFill>
              <a:srgbClr val="A9A59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663440" y="11430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578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screen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1417320"/>
          </a:xfrm>
          <a:prstGeom prst="rect">
            <a:avLst/>
          </a:prstGeom>
          <a:solidFill>
            <a:srgbClr val="E8E4D6"/>
          </a:solidFill>
          <a:ln w="12700">
            <a:solidFill>
              <a:srgbClr val="A9A593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457200" y="292608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361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screen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2926080"/>
            <a:ext cx="4023360" cy="1417320"/>
          </a:xfrm>
          <a:prstGeom prst="rect">
            <a:avLst/>
          </a:prstGeom>
          <a:solidFill>
            <a:srgbClr val="E8E4D6"/>
          </a:solidFill>
          <a:ln w="12700">
            <a:solidFill>
              <a:srgbClr val="A9A593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663440" y="2926080"/>
            <a:ext cx="4023360" cy="143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361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result screen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DA9C07-35C8-3733-EE65-F37EA66FE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42999"/>
            <a:ext cx="4023360" cy="14356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BB3EE1C-ABC1-92BA-206D-4AB0365BF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142998"/>
            <a:ext cx="4023359" cy="14996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6747299-112D-6273-81AE-4B7F458AF7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804084"/>
            <a:ext cx="4077951" cy="155760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EF4ACDE-BE0A-7EEC-A930-D2B9CC1C26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" y="2871488"/>
            <a:ext cx="4209155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005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40005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3781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37810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complex soil data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multicollinearity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low-cost, fast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86300" y="1234440"/>
            <a:ext cx="40005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34440"/>
            <a:ext cx="40005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96028" y="1234440"/>
            <a:ext cx="3781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Improvements over Existing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96028" y="1783080"/>
            <a:ext cx="37810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instead of one-nutrient view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visual summary of samples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and objective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005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40005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3781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Uses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37810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fertility zoning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recommendation support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health monitoring over time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86300" y="1234440"/>
            <a:ext cx="40005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34440"/>
            <a:ext cx="40005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96028" y="1234440"/>
            <a:ext cx="3781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 / Industries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96028" y="1783080"/>
            <a:ext cx="37810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and agri-advisors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testing laboratories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Agri-tech companies and researchers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005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40005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3781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37810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assumes linear relationships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less intuitive than raw nutrients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 and scaling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86300" y="1234440"/>
            <a:ext cx="40005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34440"/>
            <a:ext cx="40005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96028" y="1234440"/>
            <a:ext cx="3781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/ Technical Constraints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96028" y="1783080"/>
            <a:ext cx="37810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sample size and region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yield or crop-response data included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Unsupervised: no direct fertility prediction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3D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Improvements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t-SNE, UMAP, kernel PCA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PCA with clustering (K-Means)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66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63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Features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63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for upload and results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satellite / weather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234440"/>
            <a:ext cx="259080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0" y="1234440"/>
            <a:ext cx="2590800" cy="457200"/>
          </a:xfrm>
          <a:prstGeom prst="rect">
            <a:avLst/>
          </a:prstGeom>
          <a:solidFill>
            <a:srgbClr val="4F77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05728" y="1234440"/>
            <a:ext cx="2371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Scaling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05728" y="1783080"/>
            <a:ext cx="23713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as a soil-advisory tool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farmers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datasets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A4714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DE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371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PCA pipeline that compresses soil nutrient data into a few meaningful components.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DE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outcome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24231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components explains most variability and highlights the dominant nutrient groups.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DDE5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4747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reproducible, data-driven approach to support better soil management decisions.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DE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1230</Words>
  <Application>Microsoft Office PowerPoint</Application>
  <PresentationFormat>On-screen Show (16:9)</PresentationFormat>
  <Paragraphs>288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 Nutrient Analysis using PCA</dc:title>
  <dc:subject>PptxGenJS Presentation</dc:subject>
  <dc:creator>PptxGenJS</dc:creator>
  <cp:lastModifiedBy>Dhamarapuramkaveri@outlook.com</cp:lastModifiedBy>
  <cp:revision>3</cp:revision>
  <dcterms:created xsi:type="dcterms:W3CDTF">2026-10-05T03:24:38Z</dcterms:created>
  <dcterms:modified xsi:type="dcterms:W3CDTF">2026-10-14T06:04:54Z</dcterms:modified>
</cp:coreProperties>
</file>